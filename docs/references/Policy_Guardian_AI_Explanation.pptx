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Say the name, then one sentence: this platform finds contradictions in company policies automatically, before an auditor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problem with real stakes, then tee up the concrete example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exact conflict shown live in the demo video — use it as the anchor example throughout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business case before showing the product — judges should feel the cost before seeing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Four-step framing that maps directly onto the architecture diagram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Nine-capability grid — read the row headers aloud, don't read every description verbatim.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graceful degradation — it's a deliberate NFR (NFR-5), not an accident.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for technical judges — the determinism contract is the key differentiator vs. an LLM-wrapper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Redundancy card intentionally placed opposite the 5th conflict type to fill the grid cleanly — mention both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Mirrors the real Conflict Compare screen in the console — use as a bridge into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example again — keep using the same seed corpus throughout for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Gauge is a simplified mock of the real GovernanceGauge component in the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Simplified static mock of the real interactive React Flow graph explorer.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here are illustrative of the mapping mechanism; exact percentages come from a live analysis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slide to preempt the 'does this scale beyond GitHub' judge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FR-12 employee/manager distinction is a deliberate design choice worth calling out to judges.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technical credibility slide — don't linger, judges can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principles map 1:1 to NFR-1, NFR-2, and design constraints in the SRS — cite that if a judge asks for rigor.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'how do we know it actually works' — point out that it's CI-enforced, not a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real screenshots here after running the app locally — replace this wireframe grid with actual PNGs for the final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shows judges the scope was deliberately bounded for the hackathon, not that features are missing by oversight.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impact statement from the README executive summary, then open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2233B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10203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 •  GOVERN  •  EXPLAIN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Policy Governance &amp; Compliance Intelligence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conflicts, redundancy, and staleness across an enterprise policy corpus — explainable, evidence-backed, and continuous.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1924812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343400"/>
            <a:ext cx="19248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AI Core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74620" y="4343400"/>
            <a:ext cx="1613916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4620" y="4343400"/>
            <a:ext cx="1613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Next.js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9704" y="4343400"/>
            <a:ext cx="2002536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9704" y="4343400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CI + 37 tests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— Policy Conflict &amp; Staleness Detector Challenge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github.com/rithvin-us/Policy-Conflict-and-Stallness-Detector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contradict each other — silently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accumulate dozens of security &amp; compliance policies, written by different teams, over many years. They drift out of sync with no one noticing — until an audit finds the contradiction.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828800" cy="1554480"/>
          </a:xfrm>
          <a:prstGeom prst="roundRect">
            <a:avLst>
              <a:gd name="adj" fmla="val 5294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429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hours/quarter spent manually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reconciling conflicting policies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14600" y="3291840"/>
            <a:ext cx="1828800" cy="1554480"/>
          </a:xfrm>
          <a:prstGeom prst="roundRect">
            <a:avLst>
              <a:gd name="adj" fmla="val 5294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3429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606040" y="4114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sources per org — GitHub,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drives, wikis, uploads, and more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560" y="3291840"/>
            <a:ext cx="1828800" cy="1554480"/>
          </a:xfrm>
          <a:prstGeom prst="roundRect">
            <a:avLst>
              <a:gd name="adj" fmla="val 5294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3429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72000" y="4114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actively cross-checked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each other, today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75120" y="1600200"/>
            <a:ext cx="4937760" cy="4572000"/>
          </a:xfrm>
          <a:prstGeom prst="roundRect">
            <a:avLst>
              <a:gd name="adj" fmla="val 1800"/>
            </a:avLst>
          </a:prstGeom>
          <a:solidFill>
            <a:srgbClr val="1B2540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691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7086600" y="2468880"/>
            <a:ext cx="42976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 says: ‘rotate your password every 90 days.’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says: ‘do not rotate passwords — enforce MFA.’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team knew about the other’s rule.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86600" y="51206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 actual conflict in the sample corpus this platform detects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CONFLICT, FOUND AUTOMATICALLY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policies. One contradiction.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74920" cy="4114800"/>
          </a:xfrm>
          <a:prstGeom prst="roundRect">
            <a:avLst>
              <a:gd name="adj" fmla="val 20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606040"/>
            <a:ext cx="4617720" cy="914400"/>
          </a:xfrm>
          <a:prstGeom prst="roundRect">
            <a:avLst>
              <a:gd name="adj" fmla="val 9000"/>
            </a:avLst>
          </a:prstGeom>
          <a:solidFill>
            <a:srgbClr val="241A2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9748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 employees must rotate their passwords every 90 days.”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reviewed: 2021-08-15  •  Owner: IT Security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65392" y="1737360"/>
            <a:ext cx="5074920" cy="4114800"/>
          </a:xfrm>
          <a:prstGeom prst="roundRect">
            <a:avLst>
              <a:gd name="adj" fmla="val 20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93992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POLICY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93992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5.2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93992" y="2606040"/>
            <a:ext cx="4617720" cy="1051560"/>
          </a:xfrm>
          <a:prstGeom prst="roundRect">
            <a:avLst>
              <a:gd name="adj" fmla="val 7826"/>
            </a:avLst>
          </a:prstGeom>
          <a:solidFill>
            <a:srgbClr val="241A2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31152" y="2679192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“Password rotation shall not be required for cloud systems; MFA replaces the need for periodic credential changes.”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93992" y="3794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reviewed: 2024-11-20  •  Owner: Cloud Engineering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41264" y="2880360"/>
            <a:ext cx="1097280" cy="1097280"/>
          </a:xfrm>
          <a:prstGeom prst="ellipse">
            <a:avLst/>
          </a:prstGeom>
          <a:solidFill>
            <a:srgbClr val="0B1220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41264" y="28803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0177272" cy="1508760"/>
          </a:xfrm>
          <a:prstGeom prst="roundRect">
            <a:avLst>
              <a:gd name="adj" fmla="val 5455"/>
            </a:avLst>
          </a:prstGeom>
          <a:solidFill>
            <a:srgbClr val="1B2540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43159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STRENGTH / DIRECT CONFLICT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617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 requires an action the other explicitly forbids on overlapping systems. Every finding cites the exact triggering text — no black box.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074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Suggested resolution: standardize on MFA-first; scope password rotation exception to cloud workloads.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auditors. Not before them.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2296" cy="1143000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exposure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Contradictory or stale policies are a standard finding in ISO 27001 / SOC 2 audits — costly to remediate under time pressure.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82296" cy="1143000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reconciliation cost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teams spend 20+ hours per quarter manually cross-referencing policies for conflicts — a task that scales linearly with headcount and doesn't scale with document count.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82296" cy="1143000"/>
          </a:xfrm>
          <a:prstGeom prst="roundRect">
            <a:avLst>
              <a:gd name="adj" fmla="val 22222"/>
            </a:avLst>
          </a:prstGeom>
          <a:solidFill>
            <a:srgbClr val="60A5F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risk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8920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policy still referencing SHA-1, or a data retention policy that contradicts GDPR erasure rights, sits unnoticed until it's tested — in an audit, or a breach.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AI: a continuous, explainable governance layer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ingests your whole policy corpus, extracts every obligation, and continuously detects conflicts, redundancy, and staleness — with an evidence-backed explanation and a suggested resolution for every finding.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local folders, manual upload — extensible to 10 source types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265176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044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38862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Rule-driven NLP pulls obligations: action, strength, scope, parameters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265176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6364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38862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Conflicts, redundancy, and staleness across the whole corpus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778240" y="265176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0684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0684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Score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06840" y="38862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findings, resolutions, and a governance score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502920" cy="502920"/>
          </a:xfrm>
          <a:prstGeom prst="ellipse">
            <a:avLst/>
          </a:prstGeom>
          <a:solidFill>
            <a:srgbClr val="1B2540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417320" y="18470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17320" y="221284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local folders, manual upload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164592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07408" y="1901952"/>
            <a:ext cx="502920" cy="502920"/>
          </a:xfrm>
          <a:prstGeom prst="ellipse">
            <a:avLst/>
          </a:prstGeom>
          <a:solidFill>
            <a:srgbClr val="1B2540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5074920" y="18470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obligations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74920" y="221284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must/shall/should + action + scope + params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0" y="164592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65008" y="1901952"/>
            <a:ext cx="502920" cy="502920"/>
          </a:xfrm>
          <a:prstGeom prst="ellipse">
            <a:avLst/>
          </a:prstGeom>
          <a:solidFill>
            <a:srgbClr val="1B254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8732520" y="18470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conflicts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732520" y="221284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temporal, scope, strength, parameter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502152"/>
            <a:ext cx="502920" cy="502920"/>
          </a:xfrm>
          <a:prstGeom prst="ellipse">
            <a:avLst/>
          </a:prstGeom>
          <a:solidFill>
            <a:srgbClr val="1B2540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502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1417320" y="34472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redundancy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17320" y="381304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&amp; partially overlapping rules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06240" y="324612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07408" y="3502152"/>
            <a:ext cx="502920" cy="502920"/>
          </a:xfrm>
          <a:prstGeom prst="ellipse">
            <a:avLst/>
          </a:prstGeom>
          <a:solidFill>
            <a:srgbClr val="1B2540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3502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5074920" y="34472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staleness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74920" y="381304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review-overdue, deprecated tech, orphaned owner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63840" y="324612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65008" y="3502152"/>
            <a:ext cx="502920" cy="502920"/>
          </a:xfrm>
          <a:prstGeom prst="ellipse">
            <a:avLst/>
          </a:prstGeom>
          <a:solidFill>
            <a:srgbClr val="1B254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65008" y="3502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30" dirty="0"/>
          </a:p>
        </p:txBody>
      </p:sp>
      <p:sp>
        <p:nvSpPr>
          <p:cNvPr id="32" name="Text 30"/>
          <p:cNvSpPr/>
          <p:nvPr/>
        </p:nvSpPr>
        <p:spPr>
          <a:xfrm>
            <a:off x="8732520" y="34472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findings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732520" y="381304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trigger text + likely resolution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84632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5102352"/>
            <a:ext cx="502920" cy="502920"/>
          </a:xfrm>
          <a:prstGeom prst="ellipse">
            <a:avLst/>
          </a:prstGeom>
          <a:solidFill>
            <a:srgbClr val="1B2540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30" dirty="0"/>
          </a:p>
        </p:txBody>
      </p:sp>
      <p:sp>
        <p:nvSpPr>
          <p:cNvPr id="37" name="Text 35"/>
          <p:cNvSpPr/>
          <p:nvPr/>
        </p:nvSpPr>
        <p:spPr>
          <a:xfrm>
            <a:off x="1417320" y="50474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governance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417320" y="541324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per-policy health + org-wide score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206240" y="484632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407408" y="5102352"/>
            <a:ext cx="502920" cy="502920"/>
          </a:xfrm>
          <a:prstGeom prst="ellipse">
            <a:avLst/>
          </a:prstGeom>
          <a:solidFill>
            <a:srgbClr val="1B2540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07408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30" dirty="0"/>
          </a:p>
        </p:txBody>
      </p:sp>
      <p:sp>
        <p:nvSpPr>
          <p:cNvPr id="42" name="Text 40"/>
          <p:cNvSpPr/>
          <p:nvPr/>
        </p:nvSpPr>
        <p:spPr>
          <a:xfrm>
            <a:off x="5074920" y="50474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074920" y="541324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knowledge graph, whole &amp; obligation-level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863840" y="484632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065008" y="5102352"/>
            <a:ext cx="502920" cy="502920"/>
          </a:xfrm>
          <a:prstGeom prst="ellipse">
            <a:avLst/>
          </a:prstGeom>
          <a:solidFill>
            <a:srgbClr val="1B254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65008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30" dirty="0"/>
          </a:p>
        </p:txBody>
      </p:sp>
      <p:sp>
        <p:nvSpPr>
          <p:cNvPr id="47" name="Text 45"/>
          <p:cNvSpPr/>
          <p:nvPr/>
        </p:nvSpPr>
        <p:spPr>
          <a:xfrm>
            <a:off x="8732520" y="50474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&amp; notifies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732520" y="541324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MD/HTML/JSON reports; webhook alerts on HIGH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tiers, one deterministic core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3108960"/>
          </a:xfrm>
          <a:prstGeom prst="roundRect">
            <a:avLst>
              <a:gd name="adj" fmla="val 3913"/>
            </a:avLst>
          </a:prstGeom>
          <a:solidFill>
            <a:srgbClr val="141C2E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18288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folder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upload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(+7 stubbed)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71800" y="1828800"/>
            <a:ext cx="2331720" cy="3108960"/>
          </a:xfrm>
          <a:prstGeom prst="roundRect">
            <a:avLst>
              <a:gd name="adj" fmla="val 3529"/>
            </a:avLst>
          </a:prstGeom>
          <a:solidFill>
            <a:srgbClr val="141C2E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08960" y="196596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2560320"/>
            <a:ext cx="20574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BaseConnector SPI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intake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23560" y="182880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141C2E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19659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Policy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2560320"/>
            <a:ext cx="23774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· Risk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595360" y="182880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141C2E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32520" y="19659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32520" y="2560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OpenAPI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Notify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95360" y="352044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141C2E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32520" y="3657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32520" y="4251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UI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51760" y="3246120"/>
            <a:ext cx="320040" cy="274320"/>
          </a:xfrm>
          <a:prstGeom prst="rightArrow">
            <a:avLst/>
          </a:prstGeom>
          <a:solidFill>
            <a:srgbClr val="2A3552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0" y="3246120"/>
            <a:ext cx="320040" cy="274320"/>
          </a:xfrm>
          <a:prstGeom prst="rightArrow">
            <a:avLst/>
          </a:prstGeom>
          <a:solidFill>
            <a:srgbClr val="2A3552"/>
          </a:solidFill>
          <a:ln/>
        </p:spPr>
      </p:sp>
      <p:sp>
        <p:nvSpPr>
          <p:cNvPr id="21" name="Shape 19"/>
          <p:cNvSpPr/>
          <p:nvPr/>
        </p:nvSpPr>
        <p:spPr>
          <a:xfrm>
            <a:off x="8275320" y="3246120"/>
            <a:ext cx="320040" cy="274320"/>
          </a:xfrm>
          <a:prstGeom prst="rightArrow">
            <a:avLst/>
          </a:prstGeom>
          <a:solidFill>
            <a:srgbClr val="2A3552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5212080"/>
            <a:ext cx="10698480" cy="1051560"/>
          </a:xfrm>
          <a:prstGeom prst="roundRect">
            <a:avLst>
              <a:gd name="adj" fmla="val 7826"/>
            </a:avLst>
          </a:prstGeom>
          <a:solidFill>
            <a:srgbClr val="1B2540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534924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zero optional dependencies: Postgres → SQLite, Redis/Celery → in-process, embeddings → lexical similarity. Docker Compose brings up the full stack in one command.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deterministic, explainable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439527" cy="1554480"/>
          </a:xfrm>
          <a:prstGeom prst="roundRect">
            <a:avLst>
              <a:gd name="adj" fmla="val 5717"/>
            </a:avLst>
          </a:prstGeom>
          <a:solidFill>
            <a:srgbClr val="141C2E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377440"/>
            <a:ext cx="1348087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97311" y="3017520"/>
            <a:ext cx="146304" cy="256032"/>
          </a:xfrm>
          <a:prstGeom prst="rightArrow">
            <a:avLst/>
          </a:prstGeom>
          <a:solidFill>
            <a:srgbClr val="2A3552"/>
          </a:solidFill>
          <a:ln/>
        </p:spPr>
      </p:sp>
      <p:sp>
        <p:nvSpPr>
          <p:cNvPr id="7" name="Shape 5"/>
          <p:cNvSpPr/>
          <p:nvPr/>
        </p:nvSpPr>
        <p:spPr>
          <a:xfrm>
            <a:off x="2152759" y="2377440"/>
            <a:ext cx="1439527" cy="1554480"/>
          </a:xfrm>
          <a:prstGeom prst="roundRect">
            <a:avLst>
              <a:gd name="adj" fmla="val 5717"/>
            </a:avLst>
          </a:prstGeom>
          <a:solidFill>
            <a:srgbClr val="1B2540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98479" y="2377440"/>
            <a:ext cx="1348087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01430" y="3017520"/>
            <a:ext cx="146304" cy="256032"/>
          </a:xfrm>
          <a:prstGeom prst="rightArrow">
            <a:avLst/>
          </a:prstGeom>
          <a:solidFill>
            <a:srgbClr val="2A3552"/>
          </a:solidFill>
          <a:ln/>
        </p:spPr>
      </p:sp>
      <p:sp>
        <p:nvSpPr>
          <p:cNvPr id="10" name="Shape 8"/>
          <p:cNvSpPr/>
          <p:nvPr/>
        </p:nvSpPr>
        <p:spPr>
          <a:xfrm>
            <a:off x="3756878" y="2377440"/>
            <a:ext cx="1439527" cy="1554480"/>
          </a:xfrm>
          <a:prstGeom prst="roundRect">
            <a:avLst>
              <a:gd name="adj" fmla="val 5717"/>
            </a:avLst>
          </a:prstGeom>
          <a:solidFill>
            <a:srgbClr val="1B2540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02598" y="2377440"/>
            <a:ext cx="1348087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05549" y="3017520"/>
            <a:ext cx="146304" cy="256032"/>
          </a:xfrm>
          <a:prstGeom prst="rightArrow">
            <a:avLst/>
          </a:prstGeom>
          <a:solidFill>
            <a:srgbClr val="2A3552"/>
          </a:solidFill>
          <a:ln/>
        </p:spPr>
      </p:sp>
      <p:sp>
        <p:nvSpPr>
          <p:cNvPr id="13" name="Shape 11"/>
          <p:cNvSpPr/>
          <p:nvPr/>
        </p:nvSpPr>
        <p:spPr>
          <a:xfrm>
            <a:off x="5360997" y="2377440"/>
            <a:ext cx="1439527" cy="1554480"/>
          </a:xfrm>
          <a:prstGeom prst="roundRect">
            <a:avLst>
              <a:gd name="adj" fmla="val 5717"/>
            </a:avLst>
          </a:prstGeom>
          <a:solidFill>
            <a:srgbClr val="1B2540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06717" y="2377440"/>
            <a:ext cx="1348087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/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/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09667" y="3017520"/>
            <a:ext cx="146304" cy="256032"/>
          </a:xfrm>
          <a:prstGeom prst="rightArrow">
            <a:avLst/>
          </a:prstGeom>
          <a:solidFill>
            <a:srgbClr val="2A3552"/>
          </a:solidFill>
          <a:ln/>
        </p:spPr>
      </p:sp>
      <p:sp>
        <p:nvSpPr>
          <p:cNvPr id="16" name="Shape 14"/>
          <p:cNvSpPr/>
          <p:nvPr/>
        </p:nvSpPr>
        <p:spPr>
          <a:xfrm>
            <a:off x="6965115" y="2377440"/>
            <a:ext cx="1439527" cy="1554480"/>
          </a:xfrm>
          <a:prstGeom prst="roundRect">
            <a:avLst>
              <a:gd name="adj" fmla="val 5717"/>
            </a:avLst>
          </a:prstGeom>
          <a:solidFill>
            <a:srgbClr val="1B2540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10835" y="2377440"/>
            <a:ext cx="1348087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13786" y="3017520"/>
            <a:ext cx="146304" cy="256032"/>
          </a:xfrm>
          <a:prstGeom prst="rightArrow">
            <a:avLst/>
          </a:prstGeom>
          <a:solidFill>
            <a:srgbClr val="2A3552"/>
          </a:solidFill>
          <a:ln/>
        </p:spPr>
      </p:sp>
      <p:sp>
        <p:nvSpPr>
          <p:cNvPr id="19" name="Shape 17"/>
          <p:cNvSpPr/>
          <p:nvPr/>
        </p:nvSpPr>
        <p:spPr>
          <a:xfrm>
            <a:off x="8569234" y="2377440"/>
            <a:ext cx="1439527" cy="1554480"/>
          </a:xfrm>
          <a:prstGeom prst="roundRect">
            <a:avLst>
              <a:gd name="adj" fmla="val 5717"/>
            </a:avLst>
          </a:prstGeom>
          <a:solidFill>
            <a:srgbClr val="1B2540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14954" y="2377440"/>
            <a:ext cx="1348087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17905" y="3017520"/>
            <a:ext cx="146304" cy="256032"/>
          </a:xfrm>
          <a:prstGeom prst="rightArrow">
            <a:avLst/>
          </a:prstGeom>
          <a:solidFill>
            <a:srgbClr val="2A355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73353" y="2377440"/>
            <a:ext cx="1439527" cy="1554480"/>
          </a:xfrm>
          <a:prstGeom prst="roundRect">
            <a:avLst>
              <a:gd name="adj" fmla="val 5717"/>
            </a:avLst>
          </a:prstGeom>
          <a:solidFill>
            <a:srgbClr val="141C2E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219073" y="2377440"/>
            <a:ext cx="1348087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Explain-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raw_text  →  sections  →  obligations (action · strength · polarity · scope · params)  →  detectors  →  React-Flow graph  →  scores  →  ExplanationPayload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B2540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4983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CONTRACT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285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above is pure and deterministic. The optional embeddings layer only reorders/adds candidate pairs — it never turns a HIGH direct conflict into a non-finding. Zero model downloads, zero GPU, runs on Python 3.11–3.14.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TAXONOMY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conflict types, one severity matrix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38528"/>
            <a:ext cx="758952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38528"/>
            <a:ext cx="75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obligations on the same topic/scope give incompatible instructions.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938528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93852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63640" y="239572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 requires an action; another explicitly forbids or discourages 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538728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3872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399592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timing/cadence requirements (e.g. 90 days vs 60 days).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33375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3538728"/>
            <a:ext cx="681228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3538728"/>
            <a:ext cx="6812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3640" y="399592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populations or systems get different, incompatible rules.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138928"/>
            <a:ext cx="992124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138928"/>
            <a:ext cx="9921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559612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obligation, different numeric parameter (length, retention period).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4937760"/>
            <a:ext cx="4937760" cy="1417320"/>
          </a:xfrm>
          <a:prstGeom prst="roundRect">
            <a:avLst>
              <a:gd name="adj" fmla="val 5806"/>
            </a:avLst>
          </a:prstGeom>
          <a:solidFill>
            <a:srgbClr val="1B2540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37960" y="5102352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REDUNDANCY &amp; PARTIAL_REDUNDANCY — flagged separately from conflicts, since duplicated (not contradictory) rules need a different fix: consolidate, don't resolve.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is explainable — never a black box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184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text: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476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sentence(s) that caused the finding — quoted verbatim.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957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involved: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7249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policy sections and which obligations conflict.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273552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729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&amp; confidence: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5021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HIGH/MEDIUM/LOW plus a numeric confidence score.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050792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502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resolution: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27939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concrete, human-readable recommendation to resolve 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828032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7274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impact: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0566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ISO/NIST/GDPR/COBIT clauses the finding affects.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691640"/>
            <a:ext cx="6949440" cy="4572000"/>
          </a:xfrm>
          <a:prstGeom prst="roundRect">
            <a:avLst>
              <a:gd name="adj" fmla="val 1800"/>
            </a:avLst>
          </a:prstGeom>
          <a:solidFill>
            <a:srgbClr val="1B2540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PAYLOAD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240280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240280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05856" y="224028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05856" y="22402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84848" y="2240280"/>
            <a:ext cx="1458468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4848" y="2240280"/>
            <a:ext cx="14584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0.93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2697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 § 3.1  ↔  Cloud Security Policy § 5.2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3108960"/>
            <a:ext cx="6309360" cy="822960"/>
          </a:xfrm>
          <a:prstGeom prst="roundRect">
            <a:avLst>
              <a:gd name="adj" fmla="val 6667"/>
            </a:avLst>
          </a:prstGeom>
          <a:solidFill>
            <a:srgbClr val="241A2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2004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“must rotate their passwords every 90 days”  vs  “rotation shall not be required”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37760" y="406908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standardize on MFA-first; scope the rotation exception to cloud workloads explicitly.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37760" y="46634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impact: NIST 800-63B (password guidance) · ISO 27001 §A.9.4.3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51206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spans: policy_id, section_id, char offsets — fully audit-traceable.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SURVEILLANCE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age. This catches it before an auditor does.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74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18mo+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Review-overdue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when a policy hasn't been reviewed in &gt; 18 months.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7373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874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0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technology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9260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SHA-1, TLS 1.0, and other retired standards.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874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v1→v2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standard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9260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a compliance framework version that's been replaced.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78240" y="17373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0" y="1874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0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Orphaned owner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0" y="29260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named policy owner no longer exists in the org.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11064240" cy="1920240"/>
          </a:xfrm>
          <a:prstGeom prst="roundRect">
            <a:avLst>
              <a:gd name="adj" fmla="val 4286"/>
            </a:avLst>
          </a:prstGeom>
          <a:solidFill>
            <a:srgbClr val="1B2540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SEED CORPUS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7548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Password Policy (v2.1) was last reviewed 2021-08-15 and still specifies “password hashes must be stored using SHA-1 with a per-user salt” — SHA-1 has been cryptographically broken for password storage for years. Staleness Surveillance flags this automatically, with the age, the evidence, and a recommendation: migrate to bcrypt/Argon2 and schedule an immediate review.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 rolled up from real evidence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0" cy="4480560"/>
          </a:xfrm>
          <a:prstGeom prst="roundRect">
            <a:avLst>
              <a:gd name="adj" fmla="val 225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SCORE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2377440"/>
            <a:ext cx="2743200" cy="2743200"/>
          </a:xfrm>
          <a:prstGeom prst="arc">
            <a:avLst>
              <a:gd name="adj1" fmla="val 16200000"/>
              <a:gd name="adj2" fmla="val 9540000"/>
            </a:avLst>
          </a:prstGeom>
          <a:ln w="279400">
            <a:solidFill>
              <a:srgbClr val="2A35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377440"/>
            <a:ext cx="2743200" cy="2743200"/>
          </a:xfrm>
          <a:prstGeom prst="arc">
            <a:avLst>
              <a:gd name="adj1" fmla="val 16200000"/>
              <a:gd name="adj2" fmla="val 4920000"/>
            </a:avLst>
          </a:prstGeom>
          <a:ln w="2794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291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 — seed corpus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5577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policies · 7 conflicts (2 HIGH) · 4 redundancies · 7 stale · 88% topic coverage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to the score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0" y="2386584"/>
            <a:ext cx="128016" cy="12801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27685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severity &amp; confidence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58775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findings weigh more; low-confidence findings weigh less.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3099816"/>
            <a:ext cx="128016" cy="12801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99008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breadth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300984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affecting more employees/systems score worse.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3813048"/>
            <a:ext cx="128016" cy="12801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7033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4014216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Older, unreviewed policies drag the score down.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4526280"/>
            <a:ext cx="128016" cy="12801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441655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472744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obligations reduce clarity and score.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5239512"/>
            <a:ext cx="128016" cy="12801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512978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impact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54406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touching mapped ISO/NIST/GDPR/COBIT clauses are weighted up.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0" y="598932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Rolled up per-policy (Policy Health) and org-wide (Governance Score) — both live-recomputed on every analysis run.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knowledge graph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V="1">
            <a:off x="2286000" y="2103120"/>
            <a:ext cx="1645920" cy="548640"/>
          </a:xfrm>
          <a:prstGeom prst="line">
            <a:avLst/>
          </a:prstGeom>
          <a:noFill/>
          <a:ln w="19050">
            <a:solidFill>
              <a:srgbClr val="2A35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2651760"/>
            <a:ext cx="91440" cy="1645920"/>
          </a:xfrm>
          <a:prstGeom prst="line">
            <a:avLst/>
          </a:prstGeom>
          <a:noFill/>
          <a:ln w="19050">
            <a:solidFill>
              <a:srgbClr val="2A35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2103120"/>
            <a:ext cx="640080" cy="1371600"/>
          </a:xfrm>
          <a:prstGeom prst="line">
            <a:avLst/>
          </a:prstGeom>
          <a:noFill/>
          <a:ln w="19050">
            <a:solidFill>
              <a:srgbClr val="2A35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9040" y="3474720"/>
            <a:ext cx="822960" cy="1554480"/>
          </a:xfrm>
          <a:prstGeom prst="line">
            <a:avLst/>
          </a:prstGeom>
          <a:noFill/>
          <a:ln w="19050">
            <a:solidFill>
              <a:srgbClr val="2A35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4297680"/>
            <a:ext cx="1554480" cy="731520"/>
          </a:xfrm>
          <a:prstGeom prst="line">
            <a:avLst/>
          </a:prstGeom>
          <a:noFill/>
          <a:ln w="19050">
            <a:solidFill>
              <a:srgbClr val="2A35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0" y="2103120"/>
            <a:ext cx="182880" cy="2926080"/>
          </a:xfrm>
          <a:prstGeom prst="line">
            <a:avLst/>
          </a:prstGeom>
          <a:noFill/>
          <a:ln w="19050">
            <a:solidFill>
              <a:srgbClr val="2A35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2286000"/>
            <a:ext cx="731520" cy="731520"/>
          </a:xfrm>
          <a:prstGeom prst="ellipse">
            <a:avLst/>
          </a:prstGeom>
          <a:solidFill>
            <a:srgbClr val="1B2540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66160" y="1737360"/>
            <a:ext cx="731520" cy="731520"/>
          </a:xfrm>
          <a:prstGeom prst="ellipse">
            <a:avLst/>
          </a:prstGeom>
          <a:solidFill>
            <a:srgbClr val="1B2540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514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06240" y="3108960"/>
            <a:ext cx="731520" cy="731520"/>
          </a:xfrm>
          <a:prstGeom prst="ellipse">
            <a:avLst/>
          </a:prstGeom>
          <a:solidFill>
            <a:srgbClr val="1B2540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3886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0" y="3931920"/>
            <a:ext cx="731520" cy="731520"/>
          </a:xfrm>
          <a:prstGeom prst="ellipse">
            <a:avLst/>
          </a:prstGeom>
          <a:solidFill>
            <a:srgbClr val="1B2540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4709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83280" y="4663440"/>
            <a:ext cx="731520" cy="731520"/>
          </a:xfrm>
          <a:prstGeom prst="ellipse">
            <a:avLst/>
          </a:prstGeom>
          <a:solidFill>
            <a:srgbClr val="1B2540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5440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1554480"/>
            <a:ext cx="5577840" cy="4754880"/>
          </a:xfrm>
          <a:prstGeom prst="roundRect">
            <a:avLst>
              <a:gd name="adj" fmla="val 1731"/>
            </a:avLst>
          </a:prstGeom>
          <a:ln w="12700">
            <a:solidFill>
              <a:srgbClr val="2A35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828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look at the corpus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0" y="2377440"/>
            <a:ext cx="5212080" cy="1554480"/>
          </a:xfrm>
          <a:prstGeom prst="roundRect">
            <a:avLst>
              <a:gd name="adj" fmla="val 5294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29400" y="2560320"/>
            <a:ext cx="1225296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560320"/>
            <a:ext cx="1225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WHOLE-POLICY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9400" y="30175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policies; edges are conflicts, redundancies, and shared topics. Spot which policies need coordinated review.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0" y="4114800"/>
            <a:ext cx="5212080" cy="1554480"/>
          </a:xfrm>
          <a:prstGeom prst="roundRect">
            <a:avLst>
              <a:gd name="adj" fmla="val 5294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29400" y="4297680"/>
            <a:ext cx="1536192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4297680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OBLIGATION-LEVEL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29400" y="47548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individual obligations linked by conflict relationships — drill down to the exact rule causing friction.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0" y="5806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as React-Flow-ready JSON — rendered live in the operations console.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maps to a compliance clause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470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§5.1, §5.2 — Policies for Information Security; Review of Policies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0" y="2084832"/>
            <a:ext cx="4114800" cy="219456"/>
          </a:xfrm>
          <a:prstGeom prst="roundRect">
            <a:avLst>
              <a:gd name="adj" fmla="val 20833"/>
            </a:avLst>
          </a:prstGeom>
          <a:solidFill>
            <a:srgbClr val="1B254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2084832"/>
            <a:ext cx="3785616" cy="219456"/>
          </a:xfrm>
          <a:prstGeom prst="roundRect">
            <a:avLst>
              <a:gd name="adj" fmla="val 20833"/>
            </a:avLst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10607040" y="20116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8986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800-53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644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PL-1, PM-1, IA-5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3136392"/>
            <a:ext cx="4114800" cy="219456"/>
          </a:xfrm>
          <a:prstGeom prst="roundRect">
            <a:avLst>
              <a:gd name="adj" fmla="val 20833"/>
            </a:avLst>
          </a:prstGeom>
          <a:solidFill>
            <a:srgbClr val="1B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3136392"/>
            <a:ext cx="3497580" cy="219456"/>
          </a:xfrm>
          <a:prstGeom prst="roundRect">
            <a:avLst>
              <a:gd name="adj" fmla="val 20833"/>
            </a:avLst>
          </a:prstGeom>
          <a:solidFill>
            <a:srgbClr val="60A5FA"/>
          </a:solidFill>
          <a:ln/>
        </p:spPr>
      </p:sp>
      <p:sp>
        <p:nvSpPr>
          <p:cNvPr id="15" name="Text 13"/>
          <p:cNvSpPr/>
          <p:nvPr/>
        </p:nvSpPr>
        <p:spPr>
          <a:xfrm>
            <a:off x="10607040" y="3063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9502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3159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5, 17, 24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4187952"/>
            <a:ext cx="4114800" cy="219456"/>
          </a:xfrm>
          <a:prstGeom prst="roundRect">
            <a:avLst>
              <a:gd name="adj" fmla="val 20833"/>
            </a:avLst>
          </a:prstGeom>
          <a:solidFill>
            <a:srgbClr val="1B254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187952"/>
            <a:ext cx="3209544" cy="219456"/>
          </a:xfrm>
          <a:prstGeom prst="roundRect">
            <a:avLst>
              <a:gd name="adj" fmla="val 20833"/>
            </a:avLst>
          </a:prstGeom>
          <a:solidFill>
            <a:srgbClr val="60A5FA"/>
          </a:solidFill>
          <a:ln/>
        </p:spPr>
      </p:sp>
      <p:sp>
        <p:nvSpPr>
          <p:cNvPr id="21" name="Text 19"/>
          <p:cNvSpPr/>
          <p:nvPr/>
        </p:nvSpPr>
        <p:spPr>
          <a:xfrm>
            <a:off x="10607040" y="41148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50017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COBIT 2019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3675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APO01 — Maintain Policy Framework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5239512"/>
            <a:ext cx="4114800" cy="219456"/>
          </a:xfrm>
          <a:prstGeom prst="roundRect">
            <a:avLst>
              <a:gd name="adj" fmla="val 20833"/>
            </a:avLst>
          </a:prstGeom>
          <a:solidFill>
            <a:srgbClr val="1B254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5239512"/>
            <a:ext cx="3621024" cy="219456"/>
          </a:xfrm>
          <a:prstGeom prst="roundRect">
            <a:avLst>
              <a:gd name="adj" fmla="val 20833"/>
            </a:avLst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10607040" y="5166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897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= active, reviewed policies with zero open findings against that clause. Exported as a Compliance Coverage report — audit-file ready.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interface, ten source types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1188720"/>
          </a:xfrm>
          <a:prstGeom prst="roundRect">
            <a:avLst>
              <a:gd name="adj" fmla="val 6923"/>
            </a:avLst>
          </a:prstGeom>
          <a:solidFill>
            <a:srgbClr val="141C2E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116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70632" y="1828800"/>
            <a:ext cx="2084832" cy="1188720"/>
          </a:xfrm>
          <a:prstGeom prst="roundRect">
            <a:avLst>
              <a:gd name="adj" fmla="val 6923"/>
            </a:avLst>
          </a:prstGeom>
          <a:solidFill>
            <a:srgbClr val="141C2E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07792" y="20116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Folder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07792" y="251460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92624" y="1828800"/>
            <a:ext cx="2084832" cy="1188720"/>
          </a:xfrm>
          <a:prstGeom prst="roundRect">
            <a:avLst>
              <a:gd name="adj" fmla="val 6923"/>
            </a:avLst>
          </a:prstGeom>
          <a:solidFill>
            <a:srgbClr val="141C2E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9784" y="20116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129784" y="251460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214616" y="1828800"/>
            <a:ext cx="2084832" cy="1188720"/>
          </a:xfrm>
          <a:prstGeom prst="roundRect">
            <a:avLst>
              <a:gd name="adj" fmla="val 6923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51776" y="20116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51776" y="251460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436608" y="1828800"/>
            <a:ext cx="2084832" cy="1188720"/>
          </a:xfrm>
          <a:prstGeom prst="roundRect">
            <a:avLst>
              <a:gd name="adj" fmla="val 6923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73768" y="20116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573768" y="251460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2084832" cy="1188720"/>
          </a:xfrm>
          <a:prstGeom prst="roundRect">
            <a:avLst>
              <a:gd name="adj" fmla="val 6923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33832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388620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70632" y="3200400"/>
            <a:ext cx="2084832" cy="1188720"/>
          </a:xfrm>
          <a:prstGeom prst="roundRect">
            <a:avLst>
              <a:gd name="adj" fmla="val 6923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907792" y="33832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907792" y="388620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92624" y="3200400"/>
            <a:ext cx="2084832" cy="1188720"/>
          </a:xfrm>
          <a:prstGeom prst="roundRect">
            <a:avLst>
              <a:gd name="adj" fmla="val 6923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29784" y="33832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129784" y="388620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14616" y="3200400"/>
            <a:ext cx="2084832" cy="1188720"/>
          </a:xfrm>
          <a:prstGeom prst="roundRect">
            <a:avLst>
              <a:gd name="adj" fmla="val 6923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51776" y="33832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51776" y="388620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436608" y="3200400"/>
            <a:ext cx="2084832" cy="1188720"/>
          </a:xfrm>
          <a:prstGeom prst="roundRect">
            <a:avLst>
              <a:gd name="adj" fmla="val 6923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573768" y="33832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573768" y="388620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1B2540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BaseConnector SPI: verify() · list_policies() · fetch(ref) · supports_webhooks()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connector = subclass BaseConnector, register it with ConnectorManager — zero changes to ingestion, analysis, or the API. GitHub, Local Folder, and Upload are fully implemented; the remaining seven are registered stubs (NOT_CONFIGURED) behind the exact same interface, ready to build out.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for auditors. Alerts for compliance managers.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480560"/>
          </a:xfrm>
          <a:prstGeom prst="roundRect">
            <a:avLst>
              <a:gd name="adj" fmla="val 1837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REPORTS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1B2540"/>
          </a:solidFill>
          <a:ln w="12700">
            <a:solidFill>
              <a:srgbClr val="2A35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Health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94760" y="2459736"/>
            <a:ext cx="448056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459736"/>
            <a:ext cx="448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2459736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459736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66360" y="2459736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459736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297180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1B2540"/>
          </a:solidFill>
          <a:ln w="12700">
            <a:solidFill>
              <a:srgbClr val="2A35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Audit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94760" y="3054096"/>
            <a:ext cx="448056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3054096"/>
            <a:ext cx="448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3054096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3054096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66360" y="3054096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3054096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356616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1B2540"/>
          </a:solidFill>
          <a:ln w="12700">
            <a:solidFill>
              <a:srgbClr val="2A35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94760" y="3648456"/>
            <a:ext cx="448056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3648456"/>
            <a:ext cx="448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80560" y="3648456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3648456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66360" y="3648456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3648456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" y="41605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1B2540"/>
          </a:solidFill>
          <a:ln w="12700">
            <a:solidFill>
              <a:srgbClr val="2A35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4160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Coverage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94760" y="4242816"/>
            <a:ext cx="448056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94760" y="4242816"/>
            <a:ext cx="448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80560" y="4242816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4242816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166360" y="4242816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1B25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4242816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2960" y="4937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artifacts — no login required to view, ready to attach to an audit file.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26480" y="173736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0080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0" y="23774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managers are notified via webhook-out / integration hook whenever a new HIGH finding appears.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00800" y="320040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1B2A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3200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Manager  →  notified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00800" y="388620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241A2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886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 →  never notified (FR-12)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400800" y="46634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re-analysis on GitHub push webhooks — findings stay current with zero manual trigger.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480560"/>
          </a:xfrm>
          <a:prstGeom prst="roundRect">
            <a:avLst>
              <a:gd name="adj" fmla="val 1837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78024"/>
            <a:ext cx="118872" cy="11887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3591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3.11–3.14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980944"/>
            <a:ext cx="118872" cy="11887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8620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Pydantic v2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483864"/>
            <a:ext cx="118872" cy="11887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36499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 · Postgres 15 / SQLite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986784"/>
            <a:ext cx="118872" cy="11887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86791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Celery (optional async)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489704"/>
            <a:ext cx="118872" cy="11887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3708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Pure-Python deterministic AI core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992624"/>
            <a:ext cx="118872" cy="11887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8737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sentence-transformers · spaCy · FAISS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173736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2478024"/>
            <a:ext cx="118872" cy="1188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23591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 · TypeScript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0" y="2980944"/>
            <a:ext cx="118872" cy="1188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86207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3483864"/>
            <a:ext cx="118872" cy="1188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36499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0" y="3986784"/>
            <a:ext cx="118872" cy="1188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86791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Flow (graph explorer)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0" y="4489704"/>
            <a:ext cx="118872" cy="1188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437083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(governance charts)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0" y="4992624"/>
            <a:ext cx="118872" cy="1188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48737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Dark, high-density operations console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with Docker + Docker Compose · CI via GitHub Actions · 37 backend tests + type-checked frontend build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PHILOSOPHY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design principles that shaped every decision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2286000"/>
          </a:xfrm>
          <a:prstGeom prst="roundRect">
            <a:avLst>
              <a:gd name="adj" fmla="val 3600"/>
            </a:avLst>
          </a:prstGeom>
          <a:solidFill>
            <a:srgbClr val="141C2E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73152"/>
          </a:xfrm>
          <a:prstGeom prst="roundRect">
            <a:avLst/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Precision-first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conflict alerts erode trust with policy owners. Detectors prefer to downgrade severity over crying wolf — target &lt; 20% false-positive rate.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5303520" cy="2286000"/>
          </a:xfrm>
          <a:prstGeom prst="roundRect">
            <a:avLst>
              <a:gd name="adj" fmla="val 3600"/>
            </a:avLst>
          </a:prstGeom>
          <a:solidFill>
            <a:srgbClr val="141C2E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965960"/>
            <a:ext cx="457200" cy="73152"/>
          </a:xfrm>
          <a:prstGeom prst="round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over complexity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309360" y="265176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cites the exact triggering text and offers a resolution. No score without a reason.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303520" cy="2286000"/>
          </a:xfrm>
          <a:prstGeom prst="roundRect">
            <a:avLst>
              <a:gd name="adj" fmla="val 3600"/>
            </a:avLst>
          </a:prstGeom>
          <a:solidFill>
            <a:srgbClr val="141C2E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434840"/>
            <a:ext cx="457200" cy="73152"/>
          </a:xfrm>
          <a:prstGeom prst="roundRect">
            <a:avLst/>
          </a:pr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617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77240" y="512064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detection path is pure and reproducible — no network, no model randomness. ML is an optional upgrade, never a dependency.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4206240"/>
            <a:ext cx="5303520" cy="2286000"/>
          </a:xfrm>
          <a:prstGeom prst="roundRect">
            <a:avLst>
              <a:gd name="adj" fmla="val 3600"/>
            </a:avLst>
          </a:prstGeom>
          <a:solidFill>
            <a:srgbClr val="141C2E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4434840"/>
            <a:ext cx="457200" cy="73152"/>
          </a:xfrm>
          <a:prstGeom prst="round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4617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309360" y="512064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GPU, no model download required. Degrades gracefully: Postgres→SQLite, Redis→in-process, embeddings→lexical.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CHALLENGE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— all enforced by automated tests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023360"/>
        </p:xfrm>
        <a:graphic>
          <a:graphicData uri="http://schemas.openxmlformats.org/drawingml/2006/table">
            <a:tbl>
              <a:tblPr/>
              <a:tblGrid>
                <a:gridCol w="3931920"/>
                <a:gridCol w="1463040"/>
                <a:gridCol w="4023360"/>
                <a:gridCol w="1645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detection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7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75%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test_conflicts.py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Redundancy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7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test_redundancy.py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Staleness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7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test_staleness.py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False-positive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7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test_precision.py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Obligation extraction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7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test_obligations.py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7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/api/v1/analysis/run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on every CI run — not a one-time manual measurement.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CONSOLE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screens, one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25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93852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score, severity mix, timeline, review queue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9202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25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77640" y="193852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35915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findings + side-by-side Conflict Compare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9202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25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193852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35915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Whole-policy &amp; obligation-level knowledge graph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15400" y="173736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98280" y="19202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25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55480" y="193852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98280" y="235915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sorted by health, upload new policies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3832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5661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25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35844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400507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Review-overdue, deprecated-tech, orphan findings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7560" y="33832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20440" y="35661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25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977640" y="35844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20440" y="400507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/ NIST / GDPR / COBIT coverage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26480" y="33832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09360" y="35661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25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66560" y="35844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09360" y="400507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webhooks, sync status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915400" y="33832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098280" y="35661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25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982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555480" y="35844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098280" y="400507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MD / HTML / JSON audit reports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Dark, high-density “policy operations console” — built for a compliance manager's daily triage, not a generic SaaS dashboard.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141C2E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shipped &amp; runnable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2523744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774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obligation extraction, all 5 conflict types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3236976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09067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+ staleness (4 signals)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950208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03904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Risk/governance scoring, policy &amp; obligation graphs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466344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51713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webhooks, notifications, full console, CI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173736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141C2E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26280" y="1920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Level 2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26280" y="2523744"/>
            <a:ext cx="91440" cy="9144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3774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upgrade (sentence-transformers + FAISS)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26280" y="3236976"/>
            <a:ext cx="91440" cy="9144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09067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Scope-aware resolution (dept/system/geo graphs)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26280" y="3950208"/>
            <a:ext cx="91440" cy="9144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803904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Policy-change impact / blast-radius analysis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26280" y="4663440"/>
            <a:ext cx="91440" cy="9144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451713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harmonization rewrite suggestions (opt-in)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173736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141C2E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75320" y="1920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— Level 3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75320" y="252374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23774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Version-diff: detect introduced conflicts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75320" y="3236976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309067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Obligation-level regulatory mapping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75320" y="3950208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3803904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coverage gap analysis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75320" y="4663440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51713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 interface, RBAC/SSO, multi-tenant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223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pile of contradictory policies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ranked, evidenced findings list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949440" cy="2743200"/>
          </a:xfrm>
          <a:prstGeom prst="roundRect">
            <a:avLst>
              <a:gd name="adj" fmla="val 3000"/>
            </a:avLst>
          </a:prstGeom>
          <a:solidFill>
            <a:srgbClr val="141C2E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83464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 collapses the ~20 hours/quarter compliance teams spend manually reconciling policies into reviewing a ranked, evidenced findings list — and eliminates the ‘conflicting policy’ audit finding before the auditor arrives. Every alert is explainable and cites the exact policy text, so owners trust it and fix it fast.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0" y="2606040"/>
            <a:ext cx="3840480" cy="2743200"/>
          </a:xfrm>
          <a:prstGeom prst="roundRect">
            <a:avLst>
              <a:gd name="adj" fmla="val 3000"/>
            </a:avLst>
          </a:prstGeom>
          <a:solidFill>
            <a:srgbClr val="1B2540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01000" y="2788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01000" y="3154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01000" y="34015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github.com/rithvin-us/Policy-Conflict-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and-Stallness-Detector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01000" y="4023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01000" y="4270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 in submission]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01000" y="4709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console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01000" y="49560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 (docker compose up)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5623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GUARDIAN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2026-07-12T02:03:55Z</dcterms:created>
  <dcterms:modified xsi:type="dcterms:W3CDTF">2026-07-12T02:03:55Z</dcterms:modified>
</cp:coreProperties>
</file>