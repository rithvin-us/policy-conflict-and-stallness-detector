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bubble3D val="0"/>
            <c:spPr>
              <a:solidFill>
                <a:srgbClr val="EEF2F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69</c:v>
                </c:pt>
                <c:pt idx="1">
                  <c:v>31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B6472"/>
                </a:solidFill>
                <a:latin typeface="Arial"/>
              </a:rPr>
              <a:t>SRS Target Thresholds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threshold (%)</c:v>
                </c:pt>
              </c:strCache>
            </c:strRef>
          </c:tx>
          <c:spPr>
            <a:solidFill>
              <a:srgbClr val="0F9D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Conflict detection</c:v>
                  </c:pt>
                  <c:pt idx="1">
                    <c:v>Redundancy detection</c:v>
                  </c:pt>
                  <c:pt idx="2">
                    <c:v>Staleness detection</c:v>
                  </c:pt>
                  <c:pt idx="3">
                    <c:v>False-positive rate</c:v>
                  </c:pt>
                  <c:pt idx="4">
                    <c:v>Obligation extraction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</c:v>
                </c:pt>
                <c:pt idx="1">
                  <c:v>70</c:v>
                </c:pt>
                <c:pt idx="2">
                  <c:v>90</c:v>
                </c:pt>
                <c:pt idx="3">
                  <c:v>20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State the name and one line: this finds contradictions in company policy documents automatically, before an auditor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 stack graphic visually IS the 'tangle' metaphor from the explainer video script — keep them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example — reuse in the demo video for continuity.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Determinism contract: the embedding layer only reorders candidates, never demotes a HIGH direct conflict. No GPU, no model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this grid for real screenshots once the app is running locally, for the final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3200400"/>
            <a:ext cx="8229600" cy="8229600"/>
          </a:xfrm>
          <a:prstGeom prst="ellipse">
            <a:avLst/>
          </a:prstGeom>
          <a:solidFill>
            <a:srgbClr val="F0FBF7"/>
          </a:solidFill>
          <a:ln/>
        </p:spPr>
      </p:sp>
      <p:sp>
        <p:nvSpPr>
          <p:cNvPr id="4" name="Shape 2"/>
          <p:cNvSpPr/>
          <p:nvPr/>
        </p:nvSpPr>
        <p:spPr>
          <a:xfrm rot="-1320000">
            <a:off x="7863840" y="2103120"/>
            <a:ext cx="1463040" cy="0"/>
          </a:xfrm>
          <a:prstGeom prst="line">
            <a:avLst/>
          </a:prstGeom>
          <a:noFill/>
          <a:ln w="27940">
            <a:solidFill>
              <a:srgbClr val="D6E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320000">
            <a:off x="7863840" y="2304288"/>
            <a:ext cx="1228954" cy="0"/>
          </a:xfrm>
          <a:prstGeom prst="line">
            <a:avLst/>
          </a:prstGeom>
          <a:noFill/>
          <a:ln w="22860">
            <a:solidFill>
              <a:srgbClr val="D6E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320000">
            <a:off x="7863840" y="2505456"/>
            <a:ext cx="994867" cy="0"/>
          </a:xfrm>
          <a:prstGeom prst="line">
            <a:avLst/>
          </a:prstGeom>
          <a:noFill/>
          <a:ln w="17780">
            <a:solidFill>
              <a:srgbClr val="D6EC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1320000">
            <a:off x="7863840" y="2706624"/>
            <a:ext cx="760781" cy="0"/>
          </a:xfrm>
          <a:prstGeom prst="line">
            <a:avLst/>
          </a:prstGeom>
          <a:noFill/>
          <a:ln w="12700">
            <a:solidFill>
              <a:srgbClr val="D6E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5156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 •  GOVERN  •  EXPLAIN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Policy Governance &amp; Compliance Intelligence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conflicts, redundancy, and staleness across an enterprise policy corpus — explainable, evidence-backed, and continuous.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96230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86200"/>
            <a:ext cx="196230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AI Core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93822" y="3886200"/>
            <a:ext cx="164774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3822" y="3886200"/>
            <a:ext cx="16477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Next.js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4451" y="3886200"/>
            <a:ext cx="20409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4451" y="3886200"/>
            <a:ext cx="204094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 + 37 tests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6309360" cy="1051560"/>
          </a:xfrm>
          <a:prstGeom prst="roundRect">
            <a:avLst>
              <a:gd name="adj" fmla="val 7826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3036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— Policy Conflict &amp; Staleness Detector Challenge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github.com/rithvin-us/Policy-Conflict-and-Stallness-Detector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1645920"/>
            <a:ext cx="3840480" cy="3840480"/>
          </a:xfrm>
          <a:prstGeom prst="ellipse">
            <a:avLst/>
          </a:prstGeom>
          <a:ln w="15875">
            <a:solidFill>
              <a:srgbClr val="E2E8F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138160" y="2194560"/>
            <a:ext cx="2743200" cy="2743200"/>
          </a:xfrm>
          <a:prstGeom prst="hexagon">
            <a:avLst/>
          </a:prstGeom>
          <a:solidFill>
            <a:srgbClr val="FFFFFF"/>
          </a:solidFill>
          <a:ln w="38100">
            <a:solidFill>
              <a:srgbClr val="0F9D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2560320"/>
            <a:ext cx="2011680" cy="2011680"/>
          </a:xfrm>
          <a:prstGeom prst="hexagon">
            <a:avLst/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2514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4600" dirty="0"/>
          </a:p>
        </p:txBody>
      </p:sp>
      <p:sp>
        <p:nvSpPr>
          <p:cNvPr id="26" name="Shape 24"/>
          <p:cNvSpPr/>
          <p:nvPr/>
        </p:nvSpPr>
        <p:spPr>
          <a:xfrm>
            <a:off x="9509760" y="1645920"/>
            <a:ext cx="0" cy="1920240"/>
          </a:xfrm>
          <a:prstGeom prst="line">
            <a:avLst/>
          </a:prstGeom>
          <a:noFill/>
          <a:ln w="1587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17152" y="135331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8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17152" y="133502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 flipV="1">
            <a:off x="9509760" y="3566160"/>
            <a:ext cx="1670609" cy="960120"/>
          </a:xfrm>
          <a:prstGeom prst="line">
            <a:avLst/>
          </a:prstGeom>
          <a:noFill/>
          <a:ln w="1587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87761" y="423367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8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887761" y="421538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 flipV="1">
            <a:off x="7839151" y="3566160"/>
            <a:ext cx="1670609" cy="960120"/>
          </a:xfrm>
          <a:prstGeom prst="line">
            <a:avLst/>
          </a:prstGeom>
          <a:noFill/>
          <a:ln w="1587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6543" y="423367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8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546543" y="421538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549640" y="2125980"/>
            <a:ext cx="960120" cy="1440180"/>
          </a:xfrm>
          <a:prstGeom prst="line">
            <a:avLst/>
          </a:prstGeom>
          <a:noFill/>
          <a:ln w="1587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57032" y="183337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8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57032" y="181508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contradict each other — silently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035040" cy="1600200"/>
          </a:xfrm>
          <a:prstGeom prst="roundRect">
            <a:avLst>
              <a:gd name="adj" fmla="val 5143"/>
            </a:avLst>
          </a:prstGeom>
          <a:solidFill>
            <a:srgbClr val="F0FBF7"/>
          </a:solidFill>
          <a:ln w="12700">
            <a:solidFill>
              <a:srgbClr val="0F9D78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“Autonomous compliance today runs at 45–60% trust, not because policies are wrong — but because no one is cross-checking them against each other, continuously.”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4374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143743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GAPS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68957" y="3383280"/>
            <a:ext cx="200070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8957" y="3383280"/>
            <a:ext cx="20007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DEADLOCKS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52544" y="3383280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2544" y="338328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CROSS-CHECKS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77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431596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are authored independently, reviewed on separate schedules, and never cross-checked against each other — by design, not oversight.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73152" cy="914400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20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45896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obligations, silent duplication, and policies that reference retired standards — invisible until an audit finds them.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60020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0B1220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78040" y="18105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EXAMPLE, FROM THE SEED CORPUS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-540000">
            <a:off x="7498080" y="29489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C7D2F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 rot="-540000">
            <a:off x="7699248" y="3204972"/>
            <a:ext cx="132588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 rot="-540000">
            <a:off x="7699248" y="3424428"/>
            <a:ext cx="10515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 rot="-540000">
            <a:off x="7699248" y="3643884"/>
            <a:ext cx="77724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 rot="420000">
            <a:off x="8961120" y="31318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BBF7D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 rot="420000">
            <a:off x="9162288" y="3387852"/>
            <a:ext cx="132588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 rot="420000">
            <a:off x="9162288" y="3607308"/>
            <a:ext cx="10515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 rot="420000">
            <a:off x="9162288" y="3826764"/>
            <a:ext cx="77724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 rot="-240000">
            <a:off x="8001000" y="24917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DE68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 rot="-240000">
            <a:off x="8202168" y="2747772"/>
            <a:ext cx="132588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 rot="-240000">
            <a:off x="8202168" y="2967228"/>
            <a:ext cx="10515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 rot="-240000">
            <a:off x="8202168" y="3186684"/>
            <a:ext cx="77724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 rot="600000">
            <a:off x="8732520" y="22631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CA5A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 rot="600000">
            <a:off x="8933688" y="2519172"/>
            <a:ext cx="132588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 rot="600000">
            <a:off x="8933688" y="2738628"/>
            <a:ext cx="10515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 rot="600000">
            <a:off x="8933688" y="2958084"/>
            <a:ext cx="77724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321040" y="27203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8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522208" y="2976372"/>
            <a:ext cx="132588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522208" y="3195828"/>
            <a:ext cx="10515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522208" y="3415284"/>
            <a:ext cx="77724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9034272" y="3044952"/>
            <a:ext cx="402336" cy="402336"/>
          </a:xfrm>
          <a:prstGeom prst="star5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34272" y="3026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78040" y="48463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“Rotate passwords every 90 days”  vs  “Do not rotate — MFA replaces it”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178040" y="5532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policies in the sample corpus — neither team knew about the other's rule.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AUTOMATICALLY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policies. One contradiction.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749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 · Section 3.1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4526280" cy="960120"/>
          </a:xfrm>
          <a:prstGeom prst="roundRect">
            <a:avLst>
              <a:gd name="adj" fmla="val 857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774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employees must rotate their passwords every 90 days.”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reviewed: 2021-08-15  •  Owner: IT Security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65392" y="1691640"/>
            <a:ext cx="50749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39712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POLICY · Section 5.2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39712" y="2286000"/>
            <a:ext cx="4526280" cy="1097280"/>
          </a:xfrm>
          <a:prstGeom prst="roundRect">
            <a:avLst>
              <a:gd name="adj" fmla="val 7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2359152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“Password rotation shall not be required for cloud systems; MFA replaces the need for periodic credential changes.”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39712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reviewed: 2024-11-20  •  Owner: Cloud Engineering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41264" y="274320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3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41264" y="2743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0177272" cy="1554480"/>
          </a:xfrm>
          <a:prstGeom prst="roundRect">
            <a:avLst>
              <a:gd name="adj" fmla="val 5294"/>
            </a:avLst>
          </a:prstGeom>
          <a:solidFill>
            <a:srgbClr val="0B12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315968"/>
            <a:ext cx="2664562" cy="292608"/>
          </a:xfrm>
          <a:prstGeom prst="roundRect">
            <a:avLst>
              <a:gd name="adj" fmla="val 50000"/>
            </a:avLst>
          </a:prstGeom>
          <a:solidFill>
            <a:srgbClr val="141C2E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15968"/>
            <a:ext cx="26645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STRENGTH / DIRECT CONFLICT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73659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requires an action the other explicitly forbids on overlapping systems. Every finding cites the exact triggering text — no black box.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19379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Suggested resolution: standardize on MFA-first; scope password rotation exception to cloud workloads.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auditors. Not before them.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65960" y="19659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hours/quarter lost to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policy reconciliation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577840" y="19659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sources per org —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189720" y="19659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cross-checked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each other, today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2296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5701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exposure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3557016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or stale policies are a standard finding in ISO 27001 / SOC 2 audits — costly to remediate under time pressure.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82296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1713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 cost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4517136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spend 20+ hours per quarter cross-referencing policies by hand — a cost that scales with headcount, not with software.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8229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7725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risk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51960" y="5477256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policy still referencing SHA-1, or a retention policy that contradicts GDPR erasure rights, sits unnoticed until it's tested — in an audit, or a breach.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explainable governance layer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your whole policy corpus, extracts every obligation, and continuously detects conflicts, redundancy, and staleness — with an evidence-backed explanation and resolution for every finding.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23160"/>
            <a:ext cx="2606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0" y="2606040"/>
            <a:ext cx="594360" cy="59436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587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local folders, manual upload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3840480"/>
            <a:ext cx="201168" cy="320040"/>
          </a:xfrm>
          <a:prstGeom prst="chevron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242316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423160"/>
            <a:ext cx="2606040" cy="0"/>
          </a:xfrm>
          <a:prstGeom prst="line">
            <a:avLst/>
          </a:prstGeom>
          <a:noFill/>
          <a:ln w="38100">
            <a:solidFill>
              <a:srgbClr val="0F9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29200" y="2606040"/>
            <a:ext cx="594360" cy="59436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0F9D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587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35204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20440" y="37033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Rule-driven NLP pulls obligations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16168" y="3840480"/>
            <a:ext cx="201168" cy="320040"/>
          </a:xfrm>
          <a:prstGeom prst="chevron">
            <a:avLst/>
          </a:prstGeom>
          <a:solidFill>
            <a:srgbClr val="0F9D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242316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2423160"/>
            <a:ext cx="260604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772400" y="2606040"/>
            <a:ext cx="594360" cy="59436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2587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62636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63640" y="37033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Conflicts, redundancy, staleness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59368" y="3840480"/>
            <a:ext cx="201168" cy="320040"/>
          </a:xfrm>
          <a:prstGeom prst="chevron">
            <a:avLst/>
          </a:prstGeom>
          <a:solidFill>
            <a:srgbClr val="D97706"/>
          </a:solidFill>
          <a:ln/>
        </p:spPr>
      </p:sp>
      <p:sp>
        <p:nvSpPr>
          <p:cNvPr id="30" name="Shape 28"/>
          <p:cNvSpPr/>
          <p:nvPr/>
        </p:nvSpPr>
        <p:spPr>
          <a:xfrm>
            <a:off x="8778240" y="242316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78240" y="2423160"/>
            <a:ext cx="260604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684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515600" y="2606040"/>
            <a:ext cx="594360" cy="59436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0" y="2587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90068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Score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06840" y="37033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resolution, governance score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56232"/>
            <a:ext cx="502920" cy="50292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37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1488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local folders, manual upload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6002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1856232"/>
            <a:ext cx="502920" cy="50292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0F9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837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07492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obligations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1488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must/shall/should + action + scope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0" y="16002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1856232"/>
            <a:ext cx="502920" cy="50292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1837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73252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conflicts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21488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temporal, scope, strength, param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72968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429000"/>
            <a:ext cx="502920" cy="50292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417320" y="3355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redundancy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7216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overlapping rules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3172968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07408" y="3429000"/>
            <a:ext cx="502920" cy="50292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074920" y="3355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staleness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37216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review-overdue, deprecated tech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3172968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65008" y="3429000"/>
            <a:ext cx="502920" cy="50292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5008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732520" y="3355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findings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32520" y="37216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trigger text + resolution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745736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" y="5001768"/>
            <a:ext cx="502920" cy="50292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0F9D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1417320" y="49286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governance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417320" y="529437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per-policy health + org-wide score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06240" y="4745736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07408" y="5001768"/>
            <a:ext cx="502920" cy="50292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7408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5074920" y="49286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74920" y="529437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knowledge graph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63840" y="4745736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65008" y="5001768"/>
            <a:ext cx="502920" cy="50292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65008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20" dirty="0"/>
          </a:p>
        </p:txBody>
      </p:sp>
      <p:sp>
        <p:nvSpPr>
          <p:cNvPr id="48" name="Text 46"/>
          <p:cNvSpPr/>
          <p:nvPr/>
        </p:nvSpPr>
        <p:spPr>
          <a:xfrm>
            <a:off x="8732520" y="49286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&amp; notifies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732520" y="529437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MD/HTML/JSON + webhook alerts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tiers, one deterministic core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160520"/>
          </a:xfrm>
          <a:prstGeom prst="roundRect">
            <a:avLst>
              <a:gd name="adj" fmla="val 2637"/>
            </a:avLst>
          </a:prstGeom>
          <a:solidFill>
            <a:srgbClr val="0B1220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141C2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18745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folder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(+7 stubbed)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141C2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488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&amp;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29000" y="2743200"/>
            <a:ext cx="21031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BaseConnector SPI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intake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0116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41C2E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148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Policy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80760" y="2743200"/>
            <a:ext cx="2423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· Risk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15400" y="201168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141C2E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1488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743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OpenAPI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Notify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400" y="374904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141C2E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3886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52560" y="4480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UI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17520" y="3520440"/>
            <a:ext cx="274320" cy="256032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0" y="3520440"/>
            <a:ext cx="274320" cy="256032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3" name="Shape 21"/>
          <p:cNvSpPr/>
          <p:nvPr/>
        </p:nvSpPr>
        <p:spPr>
          <a:xfrm>
            <a:off x="8641080" y="3520440"/>
            <a:ext cx="274320" cy="256032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4406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zero optional dependencies: Postgres → SQLite, Redis/Celery → in-process, embeddings → lexical similarity.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explainable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1965960"/>
          </a:xfrm>
          <a:prstGeom prst="roundRect">
            <a:avLst>
              <a:gd name="adj" fmla="val 5581"/>
            </a:avLst>
          </a:prstGeom>
          <a:solidFill>
            <a:srgbClr val="0B1220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1337637" cy="1371600"/>
          </a:xfrm>
          <a:prstGeom prst="roundRect">
            <a:avLst>
              <a:gd name="adj" fmla="val 4785"/>
            </a:avLst>
          </a:prstGeom>
          <a:solidFill>
            <a:srgbClr val="141C2E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65960"/>
            <a:ext cx="128277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06317" y="2514600"/>
            <a:ext cx="146304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2352621" y="1965960"/>
            <a:ext cx="1337637" cy="1371600"/>
          </a:xfrm>
          <a:prstGeom prst="roundRect">
            <a:avLst>
              <a:gd name="adj" fmla="val 4785"/>
            </a:avLst>
          </a:prstGeom>
          <a:solidFill>
            <a:srgbClr val="141C2E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0053" y="1965960"/>
            <a:ext cx="128277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90257" y="2514600"/>
            <a:ext cx="146304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2" name="Shape 10"/>
          <p:cNvSpPr/>
          <p:nvPr/>
        </p:nvSpPr>
        <p:spPr>
          <a:xfrm>
            <a:off x="3836561" y="1965960"/>
            <a:ext cx="1337637" cy="1371600"/>
          </a:xfrm>
          <a:prstGeom prst="roundRect">
            <a:avLst>
              <a:gd name="adj" fmla="val 4785"/>
            </a:avLst>
          </a:prstGeom>
          <a:solidFill>
            <a:srgbClr val="141C2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3993" y="1965960"/>
            <a:ext cx="128277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74198" y="2514600"/>
            <a:ext cx="146304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0502" y="1965960"/>
            <a:ext cx="1337637" cy="1371600"/>
          </a:xfrm>
          <a:prstGeom prst="roundRect">
            <a:avLst>
              <a:gd name="adj" fmla="val 4785"/>
            </a:avLst>
          </a:prstGeom>
          <a:solidFill>
            <a:srgbClr val="141C2E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7934" y="1965960"/>
            <a:ext cx="128277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/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/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58138" y="2514600"/>
            <a:ext cx="146304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6804442" y="1965960"/>
            <a:ext cx="1337637" cy="1371600"/>
          </a:xfrm>
          <a:prstGeom prst="roundRect">
            <a:avLst>
              <a:gd name="adj" fmla="val 4785"/>
            </a:avLst>
          </a:prstGeom>
          <a:solidFill>
            <a:srgbClr val="141C2E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1874" y="1965960"/>
            <a:ext cx="128277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42079" y="2514600"/>
            <a:ext cx="146304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1" name="Shape 19"/>
          <p:cNvSpPr/>
          <p:nvPr/>
        </p:nvSpPr>
        <p:spPr>
          <a:xfrm>
            <a:off x="8288383" y="1965960"/>
            <a:ext cx="1337637" cy="1371600"/>
          </a:xfrm>
          <a:prstGeom prst="roundRect">
            <a:avLst>
              <a:gd name="adj" fmla="val 4785"/>
            </a:avLst>
          </a:prstGeom>
          <a:solidFill>
            <a:srgbClr val="141C2E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5815" y="1965960"/>
            <a:ext cx="128277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26019" y="2514600"/>
            <a:ext cx="146304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4" name="Shape 22"/>
          <p:cNvSpPr/>
          <p:nvPr/>
        </p:nvSpPr>
        <p:spPr>
          <a:xfrm>
            <a:off x="9772323" y="1965960"/>
            <a:ext cx="1337637" cy="1371600"/>
          </a:xfrm>
          <a:prstGeom prst="roundRect">
            <a:avLst>
              <a:gd name="adj" fmla="val 4785"/>
            </a:avLst>
          </a:prstGeom>
          <a:solidFill>
            <a:srgbClr val="141C2E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99755" y="1965960"/>
            <a:ext cx="128277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Explain-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43159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4440" y="42976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split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34440" y="460857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parsed from markdown/text headings (O(n log n))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420624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89120" y="43159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37760" y="42976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37760" y="460857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verbs → strength; topic/scope/parameter maps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55280" y="4206240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92440" y="43159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41080" y="42976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641080" y="460857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similarity (TF-IDF/Jaccard); optional embeddings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5230368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534009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34440" y="532180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234440" y="563270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conflict types + redundancy + 4 staleness signals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5230368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389120" y="534009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937760" y="532180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37760" y="563270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Per-policy health → org-wide governance score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955280" y="5230368"/>
            <a:ext cx="3611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092440" y="534009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641080" y="532180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641080" y="563270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ExplanationPayload: evidence + resolution per finding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TAXONOMY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conflict types, one severity matrix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1389888"/>
          </a:xfrm>
          <a:prstGeom prst="roundRect">
            <a:avLst>
              <a:gd name="adj" fmla="val 592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74520"/>
            <a:ext cx="78272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782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obligations on the same topic/scope give incompatible instructions.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212080" cy="1389888"/>
          </a:xfrm>
          <a:prstGeom prst="roundRect">
            <a:avLst>
              <a:gd name="adj" fmla="val 592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74520"/>
            <a:ext cx="94000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74520"/>
            <a:ext cx="9400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63640" y="23134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requires an action; another explicitly forbids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5212080" cy="1389888"/>
          </a:xfrm>
          <a:prstGeom prst="roundRect">
            <a:avLst>
              <a:gd name="adj" fmla="val 592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447288"/>
            <a:ext cx="94000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47288"/>
            <a:ext cx="9400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timing/cadence requirements (90 days vs 60 days).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264408"/>
            <a:ext cx="5212080" cy="1389888"/>
          </a:xfrm>
          <a:prstGeom prst="roundRect">
            <a:avLst>
              <a:gd name="adj" fmla="val 592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447288"/>
            <a:ext cx="7040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447288"/>
            <a:ext cx="704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3886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populations or systems get different, incompatible rules.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37176"/>
            <a:ext cx="5212080" cy="1389888"/>
          </a:xfrm>
          <a:prstGeom prst="roundRect">
            <a:avLst>
              <a:gd name="adj" fmla="val 592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020056"/>
            <a:ext cx="10186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020056"/>
            <a:ext cx="10186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45896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obligation, different numeric parameter.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837176"/>
            <a:ext cx="4937760" cy="1389888"/>
          </a:xfrm>
          <a:prstGeom prst="roundRect">
            <a:avLst>
              <a:gd name="adj" fmla="val 5921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49834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REDUNDANCY &amp; PARTIAL_REDUNDANCY — duplicated (not contradictory) rules need consolidation, not resolution.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explainable — never a black box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182880" cy="182880"/>
          </a:xfrm>
          <a:prstGeom prst="ellipse">
            <a:avLst/>
          </a:prstGeom>
          <a:solidFill>
            <a:srgbClr val="0F9D7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6184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text: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1938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sentence(s) that caused the finding.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82880" cy="182880"/>
          </a:xfrm>
          <a:prstGeom prst="ellipse">
            <a:avLst/>
          </a:prstGeom>
          <a:solidFill>
            <a:srgbClr val="0F9D7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395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involved: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27157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policy sections and obligations conflict.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182880" cy="182880"/>
          </a:xfrm>
          <a:prstGeom prst="ellipse">
            <a:avLst/>
          </a:prstGeom>
          <a:solidFill>
            <a:srgbClr val="0F9D78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1729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confidence: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34930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HIGH/MEDIUM/LOW plus a numeric score.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050792"/>
            <a:ext cx="182880" cy="182880"/>
          </a:xfrm>
          <a:prstGeom prst="ellipse">
            <a:avLst/>
          </a:prstGeom>
          <a:solidFill>
            <a:srgbClr val="0F9D78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9502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resolution: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42702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human-readable recommendation.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828032"/>
            <a:ext cx="182880" cy="182880"/>
          </a:xfrm>
          <a:prstGeom prst="ellipse">
            <a:avLst/>
          </a:prstGeom>
          <a:solidFill>
            <a:srgbClr val="0F9D78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7274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impact: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" y="50474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ISO/NIST/GDPR/COBIT clauses are affected.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6949440" cy="4572000"/>
          </a:xfrm>
          <a:prstGeom prst="roundRect">
            <a:avLst>
              <a:gd name="adj" fmla="val 2400"/>
            </a:avLst>
          </a:prstGeom>
          <a:solidFill>
            <a:srgbClr val="0B1220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PAYLOAD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240280"/>
            <a:ext cx="625450" cy="292608"/>
          </a:xfrm>
          <a:prstGeom prst="roundRect">
            <a:avLst>
              <a:gd name="adj" fmla="val 50000"/>
            </a:avLst>
          </a:prstGeom>
          <a:solidFill>
            <a:srgbClr val="141C2E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240280"/>
            <a:ext cx="6254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09514" y="2240280"/>
            <a:ext cx="940003" cy="292608"/>
          </a:xfrm>
          <a:prstGeom prst="roundRect">
            <a:avLst>
              <a:gd name="adj" fmla="val 50000"/>
            </a:avLst>
          </a:prstGeom>
          <a:solidFill>
            <a:srgbClr val="141C2E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09514" y="2240280"/>
            <a:ext cx="9400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95821" y="2240280"/>
            <a:ext cx="1490472" cy="292608"/>
          </a:xfrm>
          <a:prstGeom prst="roundRect">
            <a:avLst>
              <a:gd name="adj" fmla="val 50000"/>
            </a:avLst>
          </a:prstGeom>
          <a:solidFill>
            <a:srgbClr val="141C2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5821" y="2240280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0.93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 § 3.1  ↔  Cloud Security Policy § 5.2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3108960"/>
            <a:ext cx="6309360" cy="822960"/>
          </a:xfrm>
          <a:prstGeom prst="roundRect">
            <a:avLst>
              <a:gd name="adj" fmla="val 6667"/>
            </a:avLst>
          </a:prstGeom>
          <a:solidFill>
            <a:srgbClr val="241A2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200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“must rotate their passwords every 90 days”  vs  “rotation shall not be required”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37760" y="40690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standardize on MFA-first; scope the rotation exception to cloud workloads explicitly.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37760" y="46634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impact: NIST 800-63B (password guidance) · ISO 27001 §A.9.4.3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5120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spans: policy_id, section_id, char offsets — fully audit-traceable.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SURVEILLANCE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age. This catches it first.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18mo+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Review-overdue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when a policy hasn't been reviewed in &gt; 18 months.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technology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SHA-1, TLS 1.0, and other retired standards.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v1→v2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standard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a compliance framework version that's been replaced.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78240" y="169164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611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owner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6112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policy owner no longer exists in the org.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0B122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370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SEED CORPUS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681728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Policy (v2.1) was last reviewed 2021-08-15 and still specifies “password hashes must be stored using SHA-1 with a per-user salt” — SHA-1 has been cryptographically broken for password storage for years. Staleness Surveillance flags this automatically, with the age, the evidence, and a recommendation: migrate to bcrypt/Argon2 and schedule an immediate review.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rolled up from real evidence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45720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SCORE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194560"/>
          <a:ext cx="2377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3063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914400" y="4709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— seed corpus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56692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policies · 7 conflicts (2 HIGH) · 4 redundancies · 7 stale · 88% topic coverage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the score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572000" y="2295144"/>
            <a:ext cx="128016" cy="128016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218541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severity &amp; confidence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846320" y="249631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findings weigh more; low-confidence findings weigh less.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3008376"/>
            <a:ext cx="128016" cy="128016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289864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breadth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846320" y="320954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affecting more employees/systems score worse.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0" y="3721608"/>
            <a:ext cx="128016" cy="128016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611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age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846320" y="392277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Older, unreviewed policies drag the score down.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4434840"/>
            <a:ext cx="128016" cy="128016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432511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846320" y="46360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obligations reduce clarity and score.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5148072"/>
            <a:ext cx="128016" cy="128016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25" name="Text 22"/>
          <p:cNvSpPr/>
          <p:nvPr/>
        </p:nvSpPr>
        <p:spPr>
          <a:xfrm>
            <a:off x="4846320" y="503834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impact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846320" y="5349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touching mapped ISO/NIST/GDPR/COBIT clauses weigh up.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0" y="58521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 up per-policy (Policy Health) and org-wide (Governance Score) — both live-recomputed on every analysis run.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knowledge graph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4663440"/>
          </a:xfrm>
          <a:prstGeom prst="roundRect">
            <a:avLst>
              <a:gd name="adj" fmla="val 2353"/>
            </a:avLst>
          </a:prstGeom>
          <a:solidFill>
            <a:srgbClr val="0B1220"/>
          </a:solidFill>
          <a:ln w="12700">
            <a:solidFill>
              <a:srgbClr val="1E2A44"/>
            </a:solidFill>
            <a:prstDash val="solid"/>
          </a:ln>
          <a:effectLst>
            <a:outerShdw sx="100000" sy="100000" kx="0" ky="0" algn="bl" rotWithShape="0" blurRad="177800" dist="63500" dir="5400000">
              <a:srgbClr val="0B122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2286000" y="2148840"/>
            <a:ext cx="1645920" cy="54864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2697480"/>
            <a:ext cx="91440" cy="169164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2148840"/>
            <a:ext cx="731520" cy="141732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3566160"/>
            <a:ext cx="914400" cy="155448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4389120"/>
            <a:ext cx="1554480" cy="73152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148840"/>
            <a:ext cx="182880" cy="297180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331720"/>
            <a:ext cx="731520" cy="731520"/>
          </a:xfrm>
          <a:prstGeom prst="ellipse">
            <a:avLst/>
          </a:prstGeom>
          <a:solidFill>
            <a:srgbClr val="141C2E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66160" y="1783080"/>
            <a:ext cx="731520" cy="731520"/>
          </a:xfrm>
          <a:prstGeom prst="ellipse">
            <a:avLst/>
          </a:prstGeom>
          <a:solidFill>
            <a:srgbClr val="141C2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3200400"/>
            <a:ext cx="731520" cy="731520"/>
          </a:xfrm>
          <a:prstGeom prst="ellipse">
            <a:avLst/>
          </a:prstGeom>
          <a:solidFill>
            <a:srgbClr val="141C2E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0" y="4023360"/>
            <a:ext cx="731520" cy="731520"/>
          </a:xfrm>
          <a:prstGeom prst="ellipse">
            <a:avLst/>
          </a:prstGeom>
          <a:solidFill>
            <a:srgbClr val="141C2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4800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4754880"/>
            <a:ext cx="731520" cy="731520"/>
          </a:xfrm>
          <a:prstGeom prst="ellipse">
            <a:avLst/>
          </a:prstGeom>
          <a:solidFill>
            <a:srgbClr val="141C2E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5532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look at the corpus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237744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2560320"/>
            <a:ext cx="125455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9D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560320"/>
            <a:ext cx="125455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WHOLE-POLICY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29400" y="303580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policies; edges are conflicts, redundancies, and shared topics. Spot which policies need coordinated review.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416052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29400" y="4343400"/>
            <a:ext cx="156911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343400"/>
            <a:ext cx="15691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OBLIGATION-LEVEL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9400" y="4818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individual obligations linked by conflict relationships — drill down to the exact rule causing friction.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5897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as React-Flow-ready JSON — rendered live in the operations console.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maps to a compliance clause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§5.1, §5.2 — Policies for Information Security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0" y="2039112"/>
            <a:ext cx="4114800" cy="219456"/>
          </a:xfrm>
          <a:prstGeom prst="roundRect">
            <a:avLst>
              <a:gd name="adj" fmla="val 20833"/>
            </a:avLst>
          </a:prstGeom>
          <a:solidFill>
            <a:srgbClr val="EEF2F7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2039112"/>
            <a:ext cx="3785616" cy="219456"/>
          </a:xfrm>
          <a:prstGeom prst="roundRect">
            <a:avLst>
              <a:gd name="adj" fmla="val 20833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0" y="1965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852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2186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PL-1, PM-1, IA-5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3090672"/>
            <a:ext cx="4114800" cy="219456"/>
          </a:xfrm>
          <a:prstGeom prst="roundRect">
            <a:avLst>
              <a:gd name="adj" fmla="val 20833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3090672"/>
            <a:ext cx="3497580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0" y="3017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904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2702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5, 17, 24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4142232"/>
            <a:ext cx="4114800" cy="219456"/>
          </a:xfrm>
          <a:prstGeom prst="roundRect">
            <a:avLst>
              <a:gd name="adj" fmla="val 20833"/>
            </a:avLst>
          </a:prstGeom>
          <a:solidFill>
            <a:srgbClr val="EEF2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4142232"/>
            <a:ext cx="3209544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0607040" y="4069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9560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2019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3218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APO01 — Maintain Policy Framework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5193792"/>
            <a:ext cx="4114800" cy="219456"/>
          </a:xfrm>
          <a:prstGeom prst="roundRect">
            <a:avLst>
              <a:gd name="adj" fmla="val 20833"/>
            </a:avLst>
          </a:prstGeom>
          <a:solidFill>
            <a:srgbClr val="EEF2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5193792"/>
            <a:ext cx="3621024" cy="219456"/>
          </a:xfrm>
          <a:prstGeom prst="roundRect">
            <a:avLst>
              <a:gd name="adj" fmla="val 20833"/>
            </a:avLst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10607040" y="51206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= active, reviewed policies with zero open findings against that clause. Exported as a Compliance Coverage report.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ten source 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0FBF7"/>
          </a:solidFill>
          <a:ln w="12700">
            <a:solidFill>
              <a:srgbClr val="0F9D78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0195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0632" y="1737360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0FBF7"/>
          </a:solidFill>
          <a:ln w="12700">
            <a:solidFill>
              <a:srgbClr val="0F9D78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07792" y="190195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Folder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07792" y="239572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92624" y="1737360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0FBF7"/>
          </a:solidFill>
          <a:ln w="12700">
            <a:solidFill>
              <a:srgbClr val="0F9D78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9784" y="190195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9784" y="239572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14616" y="1737360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51776" y="190195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51776" y="239572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436608" y="1737360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73768" y="190195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73768" y="239572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044952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20954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70632" y="3044952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07792" y="320954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07792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92624" y="3044952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9784" y="320954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29784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14616" y="3044952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51776" y="320954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51776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436608" y="3044952"/>
            <a:ext cx="2084832" cy="1143000"/>
          </a:xfrm>
          <a:prstGeom prst="roundRect">
            <a:avLst>
              <a:gd name="adj" fmla="val 72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573768" y="320954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573768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4407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BaseConnector SPI: verify() · list_policies() · fetch(ref) · supports_webhooks()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4773168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connector = subclass BaseConnector, register it — zero changes to ingestion, analysis, or the API. GitHub, Local Folder, and Upload are fully implemented; the remaining seven are registered stubs (NOT_CONFIGURED) behind the exact same interface.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reports &amp; notifications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40864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311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3.11–3.14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798064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883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v2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255264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45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 · Postgres/SQLite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712464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027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 (optional)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169664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599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deterministic core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175504"/>
            <a:ext cx="109728" cy="109728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0657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TypeScript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5559552"/>
            <a:ext cx="109728" cy="109728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4498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· Framer Motion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5943600"/>
            <a:ext cx="109728" cy="109728"/>
          </a:xfrm>
          <a:prstGeom prst="rect">
            <a:avLst/>
          </a:prstGeom>
          <a:solidFill>
            <a:srgbClr val="0F9D7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8338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· Recharts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169164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8056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2267712"/>
            <a:ext cx="3108960" cy="438912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22677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Health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226771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· HTML · JSON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480560" y="2834640"/>
            <a:ext cx="3108960" cy="438912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28346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Audit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283464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· HTML · JSON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80560" y="3401568"/>
            <a:ext cx="3108960" cy="438912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40156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340156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· HTML · JSON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80560" y="3968496"/>
            <a:ext cx="3108960" cy="438912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396849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Coverage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396849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· HTML · JSON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80560" y="4709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artifacts — ready to attach to an audit file.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01000" y="1691640"/>
            <a:ext cx="3639312" cy="4480560"/>
          </a:xfrm>
          <a:prstGeom prst="roundRect">
            <a:avLst>
              <a:gd name="adj" fmla="val 2261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2960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0" y="2240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managers are notified via webhook-out whenever a new HIGH finding appears.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229600" y="301752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10251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66760" y="3017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→ notified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0" y="36118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2A141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66760" y="3611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→ never (FR-12)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229600" y="4297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re-analysis on GitHub push webhooks — findings stay current with zero manual trigger.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PHILOSOPHY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trustworthy governance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93392"/>
            <a:ext cx="548640" cy="54864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751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1508760" y="1993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prefer to downgrade severity over crying wolf — target &lt; 20% false-positive rate.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993392"/>
            <a:ext cx="548640" cy="54864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0F9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9751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7040880" y="1993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cites the exact triggering text and offers a resolution. No score without a reason.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325112"/>
            <a:ext cx="548640" cy="54864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06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1508760" y="43251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path is pure and reproducible — no network, no model randomness.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4069080"/>
            <a:ext cx="5303520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4325112"/>
            <a:ext cx="548640" cy="548640"/>
          </a:xfrm>
          <a:prstGeom prst="hexagon">
            <a:avLst/>
          </a:prstGeom>
          <a:solidFill>
            <a:srgbClr val="FFFFFF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306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7040880" y="43251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50292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model download. Degrades gracefully: Postgres→SQLite, Redis→in-process.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CHALLENGE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— enforced by automated tests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691640"/>
            <a:ext cx="50292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0" y="1847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test_conflicts.py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509760" y="2194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561320" y="223113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61320" y="2231136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test_redundancy.py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509760" y="26974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561320" y="273405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61320" y="2734056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test_staleness.py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509760" y="32004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561320" y="323697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61320" y="3236976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test_precision.py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50976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&lt;20% FPR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561320" y="373989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61320" y="3739896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8580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test_obligations.py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509760" y="4206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0561320" y="424281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61320" y="4242816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2960" y="50749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 every CI run — not a one-time manual measurement. Seed corpus: 10 policies · 7 conflicts (2 HIGH) · 4 redundancies · 7 stale · 88% coverage · governance 69.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CONSOLE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screens, one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74520"/>
            <a:ext cx="384048" cy="38404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8928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score, severity mix, timeline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874520"/>
            <a:ext cx="384048" cy="38404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95928" y="18928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31343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findings + Conflict Compare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874520"/>
            <a:ext cx="384048" cy="38404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84848" y="18928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31343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Whole-policy &amp; obligation-level graph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1874520"/>
            <a:ext cx="384048" cy="38404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73768" y="189280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231343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sorted by health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493008"/>
            <a:ext cx="384048" cy="38404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351129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39319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Review-overdue, deprecated-tech findings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331012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20440" y="3493008"/>
            <a:ext cx="384048" cy="38404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95928" y="351129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20440" y="39319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/ NIST / GDPR / COBIT coverage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331012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493008"/>
            <a:ext cx="384048" cy="38404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84848" y="351129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39319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webhooks, sync status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915400" y="331012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98280" y="3493008"/>
            <a:ext cx="384048" cy="38404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F9D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9828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573768" y="351129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098280" y="39319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MD / HTML / JSON reports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high-density “policy operations console” — built for a compliance manager's daily triage, not a generic SaaS dashboard.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0F9D78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3566160" cy="0"/>
          </a:xfrm>
          <a:prstGeom prst="line">
            <a:avLst/>
          </a:prstGeom>
          <a:noFill/>
          <a:ln w="38100">
            <a:solidFill>
              <a:srgbClr val="0F9D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shipped &amp; runnable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82296" cy="82296"/>
          </a:xfrm>
          <a:prstGeom prst="ellipse">
            <a:avLst/>
          </a:prstGeom>
          <a:solidFill>
            <a:srgbClr val="0F9D7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23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obligation extraction, all 5 conflict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282696"/>
            <a:ext cx="82296" cy="82296"/>
          </a:xfrm>
          <a:prstGeom prst="ellipse">
            <a:avLst/>
          </a:prstGeom>
          <a:solidFill>
            <a:srgbClr val="0F9D7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36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+ staleness (4 signals)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995928"/>
            <a:ext cx="82296" cy="82296"/>
          </a:xfrm>
          <a:prstGeom prst="ellipse">
            <a:avLst/>
          </a:prstGeom>
          <a:solidFill>
            <a:srgbClr val="0F9D7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496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Risk/governance scoring, policy &amp; obligation graphs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709160"/>
            <a:ext cx="82296" cy="82296"/>
          </a:xfrm>
          <a:prstGeom prst="ellipse">
            <a:avLst/>
          </a:prstGeom>
          <a:solidFill>
            <a:srgbClr val="0F9D7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56285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webhooks, notifications, full console, CI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737360"/>
            <a:ext cx="35661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Level 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256946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423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upgrade (sentence-transformers + FAISS)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328269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136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Scope-aware resolution (dept/system/geo graphs)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399592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8496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Policy-change impact / blast-radius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470916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56285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harmonization rewrite suggestions (opt-in)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173736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1737360"/>
            <a:ext cx="356616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Level 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75320" y="2569464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2423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Version-diff: detect introduced conflicts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75320" y="3282696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3136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Obligation-level regulatory mapping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75320" y="3995928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38496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coverage gap analysis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75320" y="4709160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56285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interface, RBAC/SSO, multi-tenant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400800" cy="6400800"/>
          </a:xfrm>
          <a:prstGeom prst="ellipse">
            <a:avLst/>
          </a:prstGeom>
          <a:solidFill>
            <a:srgbClr val="10203A"/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8138160" y="4206240"/>
            <a:ext cx="1280160" cy="0"/>
          </a:xfrm>
          <a:prstGeom prst="line">
            <a:avLst/>
          </a:prstGeom>
          <a:noFill/>
          <a:ln w="27940">
            <a:solidFill>
              <a:srgbClr val="162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200000">
            <a:off x="8138160" y="4389120"/>
            <a:ext cx="1075334" cy="0"/>
          </a:xfrm>
          <a:prstGeom prst="line">
            <a:avLst/>
          </a:prstGeom>
          <a:noFill/>
          <a:ln w="22860">
            <a:solidFill>
              <a:srgbClr val="162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200000">
            <a:off x="8138160" y="4572000"/>
            <a:ext cx="870509" cy="0"/>
          </a:xfrm>
          <a:prstGeom prst="line">
            <a:avLst/>
          </a:prstGeom>
          <a:noFill/>
          <a:ln w="17780">
            <a:solidFill>
              <a:srgbClr val="162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200000">
            <a:off x="8138160" y="4754880"/>
            <a:ext cx="665683" cy="0"/>
          </a:xfrm>
          <a:prstGeom prst="line">
            <a:avLst/>
          </a:prstGeom>
          <a:noFill/>
          <a:ln w="12700">
            <a:solidFill>
              <a:srgbClr val="1623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38912"/>
            <a:ext cx="256032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7315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pile of contradictory policies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ranked, evidenced findings list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6949440" cy="2743200"/>
          </a:xfrm>
          <a:prstGeom prst="roundRect">
            <a:avLst>
              <a:gd name="adj" fmla="val 3000"/>
            </a:avLst>
          </a:prstGeom>
          <a:solidFill>
            <a:srgbClr val="141C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3464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 collapses the ~20 hours/quarter compliance teams spend manually reconciling policies into reviewing a ranked, evidenced findings list — and eliminates the ‘conflicting policy’ audit finding before the auditor arrives. Every alert is explainable and cites the exact policy text, so owners trust it and fix it fast.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0" y="2606040"/>
            <a:ext cx="3840480" cy="2743200"/>
          </a:xfrm>
          <a:prstGeom prst="roundRect">
            <a:avLst>
              <a:gd name="adj" fmla="val 3000"/>
            </a:avLst>
          </a:prstGeom>
          <a:solidFill>
            <a:srgbClr val="141C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0100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0" y="34015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github.com/rithvin-us/Policy-Conflict-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and-Stallness-Detector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0100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01000" y="4270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in submission]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01000" y="4709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console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01000" y="4956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(docker compose up)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2026-07-12T02:25:03Z</dcterms:created>
  <dcterms:modified xsi:type="dcterms:W3CDTF">2026-07-12T02:25:03Z</dcterms:modified>
</cp:coreProperties>
</file>